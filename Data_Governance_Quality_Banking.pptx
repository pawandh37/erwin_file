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Data Governance &amp;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ADD8E6"/>
                </a:solidFill>
              </a:defRPr>
            </a:pPr>
            <a:r>
              <a:t>Banking Industry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Why Data Governance &amp; Quality?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Bad data leads to wrong decisions, model drift, and compliance risk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Regulatory mandates: PCI-DSS, AML/KYC, GDPR require data controls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Operational cost: data incidents cause delays, customer impact, fines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Trustworthiness: clean, well-documented data drives analytics and ML success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Competitive edge: organizations with strong data governance move faster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Data Quality: 7 Key Dimensions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1. Accuracy – Values correctly reflect real-world entities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2. Completeness – Required fields and records are present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3. Consistency – Same data agrees across systems and formats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4. Timeliness – Data is current enough for its intended use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5. Validity – Values conform to allowed formats and ranges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6. Uniqueness – No unintended duplicates in key fields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7. Integrity – Foreign keys and lineage are preserved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Data Governance: Two Sides of the Coin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682B4"/>
                </a:solidFill>
              </a:defRPr>
            </a:pPr>
            <a:r>
              <a:t>Policy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• Policies &amp; standards</a:t>
            </a:r>
          </a:p>
          <a:p>
            <a:pPr>
              <a:spcBef>
                <a:spcPts val="600"/>
              </a:spcBef>
              <a:defRPr sz="1600"/>
            </a:pPr>
            <a:r>
              <a:t>• Metadata &amp; catalog</a:t>
            </a:r>
          </a:p>
          <a:p>
            <a:pPr>
              <a:spcBef>
                <a:spcPts val="600"/>
              </a:spcBef>
              <a:defRPr sz="1600"/>
            </a:pPr>
            <a:r>
              <a:t>• Retention &amp; classification</a:t>
            </a:r>
          </a:p>
          <a:p>
            <a:pPr>
              <a:spcBef>
                <a:spcPts val="600"/>
              </a:spcBef>
              <a:defRPr sz="1600"/>
            </a:pPr>
            <a:r>
              <a:t>• Access controls</a:t>
            </a:r>
          </a:p>
          <a:p>
            <a:pPr>
              <a:spcBef>
                <a:spcPts val="600"/>
              </a:spcBef>
              <a:defRPr sz="1600"/>
            </a:pPr>
            <a:r>
              <a:t>• Audit trails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682B4"/>
                </a:solidFill>
              </a:defRPr>
            </a:pPr>
            <a:r>
              <a:t>Operational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• Data owners &amp; stewards</a:t>
            </a:r>
          </a:p>
          <a:p>
            <a:pPr>
              <a:spcBef>
                <a:spcPts val="600"/>
              </a:spcBef>
              <a:defRPr sz="1600"/>
            </a:pPr>
            <a:r>
              <a:t>• Quality rules &amp; testing</a:t>
            </a:r>
          </a:p>
          <a:p>
            <a:pPr>
              <a:spcBef>
                <a:spcPts val="600"/>
              </a:spcBef>
              <a:defRPr sz="1600"/>
            </a:pPr>
            <a:r>
              <a:t>• Monitoring &amp; alerts</a:t>
            </a:r>
          </a:p>
          <a:p>
            <a:pPr>
              <a:spcBef>
                <a:spcPts val="600"/>
              </a:spcBef>
              <a:defRPr sz="1600"/>
            </a:pPr>
            <a:r>
              <a:t>• Remediation workflows</a:t>
            </a:r>
          </a:p>
          <a:p>
            <a:pPr>
              <a:spcBef>
                <a:spcPts val="600"/>
              </a:spcBef>
              <a:defRPr sz="1600"/>
            </a:pPr>
            <a:r>
              <a:t>• Incident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Data Quality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1️⃣ Profiling &amp; Baseline – Scan data to understand distributions, nulls, outliers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2️⃣ Rules &amp; Tests – Codify validation checks (type, range, referential integrity)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3️⃣ Monitoring &amp; Alerts – Stream metrics; alert on SLA violations or anomalies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4️⃣ Remediation – Auto-fixes for predictable issues; manual review for complex cases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5️⃣ Backfill &amp; Reprocess – Update historical data; verify fixes before marking resolved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6️⃣ Feedback – Consumers report issues; priorities filter back to governance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Banking Data: Key Entities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💳 Customers – KYC status, identity, risk level; must be complete and unique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💰 Accounts – Balance, type, owner; balance &gt;= 0, must match to customer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📊 Transactions – Amount, date, type; must reconcile to General Ledger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📋 Loans – Amount, status, terms; amount &gt; 0, customer verified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⚠️ Core challenge: Data from disparate legacy systems → dedup, match, reconcile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Banking: Data Quality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682B4"/>
                </a:solidFill>
              </a:defRPr>
            </a:pPr>
            <a:r>
              <a:t>Customers &amp;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• No null KYC status</a:t>
            </a:r>
          </a:p>
          <a:p>
            <a:pPr>
              <a:spcBef>
                <a:spcPts val="600"/>
              </a:spcBef>
              <a:defRPr sz="1600"/>
            </a:pPr>
            <a:r>
              <a:t>• Valid email format</a:t>
            </a:r>
          </a:p>
          <a:p>
            <a:pPr>
              <a:spcBef>
                <a:spcPts val="600"/>
              </a:spcBef>
              <a:defRPr sz="1600"/>
            </a:pPr>
            <a:r>
              <a:t>• Unique SSN + DOB</a:t>
            </a:r>
          </a:p>
          <a:p>
            <a:pPr>
              <a:spcBef>
                <a:spcPts val="600"/>
              </a:spcBef>
              <a:defRPr sz="1600"/>
            </a:pPr>
            <a:r>
              <a:t>• Balance &gt;= 0</a:t>
            </a:r>
          </a:p>
          <a:p>
            <a:pPr>
              <a:spcBef>
                <a:spcPts val="600"/>
              </a:spcBef>
              <a:defRPr sz="1600"/>
            </a:pPr>
            <a:r>
              <a:t>• No orphaned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682B4"/>
                </a:solidFill>
              </a:defRPr>
            </a:pPr>
            <a:r>
              <a:t>Transactions &amp; Loans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• Amount &gt; 0</a:t>
            </a:r>
          </a:p>
          <a:p>
            <a:pPr>
              <a:spcBef>
                <a:spcPts val="600"/>
              </a:spcBef>
              <a:defRPr sz="1600"/>
            </a:pPr>
            <a:r>
              <a:t>• Date &lt;= today</a:t>
            </a:r>
          </a:p>
          <a:p>
            <a:pPr>
              <a:spcBef>
                <a:spcPts val="600"/>
              </a:spcBef>
              <a:defRPr sz="1600"/>
            </a:pPr>
            <a:r>
              <a:t>• Account must exist</a:t>
            </a:r>
          </a:p>
          <a:p>
            <a:pPr>
              <a:spcBef>
                <a:spcPts val="600"/>
              </a:spcBef>
              <a:defRPr sz="1600"/>
            </a:pPr>
            <a:r>
              <a:t>• GL reconciliation</a:t>
            </a:r>
          </a:p>
          <a:p>
            <a:pPr>
              <a:spcBef>
                <a:spcPts val="600"/>
              </a:spcBef>
              <a:defRPr sz="1600"/>
            </a:pPr>
            <a:r>
              <a:t>• Loan start date valid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Banking: Compliance &amp;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🔐 PCI-DSS – Card data encrypted; access audited and logged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🚨 AML/KYC – Sanction screening; transaction monitoring; suspicious activity reports (SARs)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📋 GDPR – Customer consent tracked; data retention enforced; PII masked and protected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📊 Regulatory Reporting – Accurate balances, NPL %, capital ratios sent to central bank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⏱️ SLAs – Account balance &lt;5 min latency; fraud alerts &lt;10 sec; KYC updates &lt;1 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Banking Data Flow: End-to-End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1. Sources: Core banking, transaction log, CRM, loan systems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2. Ingest &amp; normalize: Standardize formats; mask PII early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3. Deduplicate: Match customers across systems (SSN + DOB)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4. Warehouse: Load into Snowflake/BigQuery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5. Quality checks: Validate balances, reconcile GL, flag duplicates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6. Compliance: Monitor for AML, audit access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7. Consumption: Reports, dashboards, fraud detection, segmentation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Implementation Roadmap: 90 Days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Week 1-2: Inventory &amp; Prioritize – List top 5 business-critical datasets; run profiling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Week 3-4: Assign Owners – Data owner for each domain; define SLAs and contracts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Week 5-8: Implement Rules – Write validation tests (dbt, Great Expectations); add to pipelines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Week 9-10: Monitoring Setup – Build dashboards; configure alerts for SLA violations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Week 11-12: Scale &amp; Iterate – Expand to more datasets; formalize governance council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Tools &amp; 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682B4"/>
                </a:solidFill>
              </a:defRPr>
            </a:pPr>
            <a:r>
              <a:t>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• Great Expectations</a:t>
            </a:r>
          </a:p>
          <a:p>
            <a:pPr>
              <a:spcBef>
                <a:spcPts val="600"/>
              </a:spcBef>
              <a:defRPr sz="1600"/>
            </a:pPr>
            <a:r>
              <a:t>• Deequ</a:t>
            </a:r>
          </a:p>
          <a:p>
            <a:pPr>
              <a:spcBef>
                <a:spcPts val="600"/>
              </a:spcBef>
              <a:defRPr sz="1600"/>
            </a:pPr>
            <a:r>
              <a:t>• Soda</a:t>
            </a:r>
          </a:p>
          <a:p>
            <a:pPr>
              <a:spcBef>
                <a:spcPts val="600"/>
              </a:spcBef>
              <a:defRPr sz="1600"/>
            </a:pPr>
            <a:r>
              <a:t>• dbt tests</a:t>
            </a:r>
          </a:p>
          <a:p>
            <a:pPr>
              <a:spcBef>
                <a:spcPts val="600"/>
              </a:spcBef>
              <a:defRPr sz="1600"/>
            </a:pPr>
            <a:r>
              <a:t>• Monte Carlo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682B4"/>
                </a:solidFill>
              </a:defRPr>
            </a:pPr>
            <a:r>
              <a:t>Governance &amp;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• Microsoft Purview</a:t>
            </a:r>
          </a:p>
          <a:p>
            <a:pPr>
              <a:spcBef>
                <a:spcPts val="600"/>
              </a:spcBef>
              <a:defRPr sz="1600"/>
            </a:pPr>
            <a:r>
              <a:t>• Collibra</a:t>
            </a:r>
          </a:p>
          <a:p>
            <a:pPr>
              <a:spcBef>
                <a:spcPts val="600"/>
              </a:spcBef>
              <a:defRPr sz="1600"/>
            </a:pPr>
            <a:r>
              <a:t>• Alation</a:t>
            </a:r>
          </a:p>
          <a:p>
            <a:pPr>
              <a:spcBef>
                <a:spcPts val="600"/>
              </a:spcBef>
              <a:defRPr sz="1600"/>
            </a:pPr>
            <a:r>
              <a:t>• Amundsen</a:t>
            </a:r>
          </a:p>
          <a:p>
            <a:pPr>
              <a:spcBef>
                <a:spcPts val="600"/>
              </a:spcBef>
              <a:defRPr sz="1600"/>
            </a:pPr>
            <a:r>
              <a:t>• Informatica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KPIs to Track 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📈 DQ Score – Target: &gt;95% across all critical datasets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📊 % Failing Rules – Target: &lt;1% of records in production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⏱️ MTTR (Mean Time to Resolve) – Target: &lt;4 hours for data incidents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✅ SLA Compliance – Target: &gt;99% of datasets meet freshness/latency SLA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🎯 Data Catalog Coverage – Target: 100% of critical datasets documented and tagged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682B4"/>
                </a:solidFill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• No clear ownership</a:t>
            </a:r>
          </a:p>
          <a:p>
            <a:pPr>
              <a:spcBef>
                <a:spcPts val="600"/>
              </a:spcBef>
              <a:defRPr sz="1600"/>
            </a:pPr>
            <a:r>
              <a:t>• Over-automation</a:t>
            </a:r>
          </a:p>
          <a:p>
            <a:pPr>
              <a:spcBef>
                <a:spcPts val="600"/>
              </a:spcBef>
              <a:defRPr sz="1600"/>
            </a:pPr>
            <a:r>
              <a:t>• Single project mindset</a:t>
            </a:r>
          </a:p>
          <a:p>
            <a:pPr>
              <a:spcBef>
                <a:spcPts val="600"/>
              </a:spcBef>
              <a:defRPr sz="1600"/>
            </a:pPr>
            <a:r>
              <a:t>• Poor metadata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682B4"/>
                </a:solidFill>
              </a:defRPr>
            </a:pPr>
            <a:r>
              <a:t>Mitigation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• Assign domain stewards</a:t>
            </a:r>
          </a:p>
          <a:p>
            <a:pPr>
              <a:spcBef>
                <a:spcPts val="600"/>
              </a:spcBef>
              <a:defRPr sz="1600"/>
            </a:pPr>
            <a:r>
              <a:t>• Add human reviews</a:t>
            </a:r>
          </a:p>
          <a:p>
            <a:pPr>
              <a:spcBef>
                <a:spcPts val="600"/>
              </a:spcBef>
              <a:defRPr sz="1600"/>
            </a:pPr>
            <a:r>
              <a:t>• Ongoing program</a:t>
            </a:r>
          </a:p>
          <a:p>
            <a:pPr>
              <a:spcBef>
                <a:spcPts val="600"/>
              </a:spcBef>
              <a:defRPr sz="1600"/>
            </a:pPr>
            <a:r>
              <a:t>• Catalog first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✅ Data governance is a continuous program, not a one-time project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✅ Data quality is enforced through policies, tests, and monitoring—not just ideals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✅ In banking, speed (fraud &lt;10 sec) and compliance (AML, PCI) are non-negotiable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✅ Every data issue has downstream impact—lineage and feedback loops matter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✅ Success requires cross-functional buy-in: finance, compliance, risk, engineering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Your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1. Assess – Profile your top 3 datasets; identify quality gaps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2. Prioritize – Pick one domain (e.g., customers) to pilot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3. Define – Write SLAs, data contracts, and quality rules for pilot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4. Automate – Implement tests and monitoring; set up dashboard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5. Scale – Expand to other domains; formalize governance council and policies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